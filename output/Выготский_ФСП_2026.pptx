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c2e7c04bd44807" /><Relationship Type="http://schemas.openxmlformats.org/officeDocument/2006/relationships/extended-properties" Target="/docProps/app.xml" Id="R7708903fbc0a467f" /><Relationship Type="http://schemas.openxmlformats.org/officeDocument/2006/relationships/officeDocument" Target="/ppt/presentation.xml" Id="Rb837645264464a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3a8fce3a33461e"/>
  </p:sldMasterIdLst>
  <p:notesMasterIdLst>
    <p:notesMasterId xmlns:r="http://schemas.openxmlformats.org/officeDocument/2006/relationships" r:id="Rea5177a387624470"/>
  </p:notesMasterIdLst>
  <p:sldIdLst>
    <p:sldId xmlns:r="http://schemas.openxmlformats.org/officeDocument/2006/relationships" id="256" r:id="Rca764db2e1ee4ec3"/>
    <p:sldId xmlns:r="http://schemas.openxmlformats.org/officeDocument/2006/relationships" id="257" r:id="R4cbe11b3148b4c62"/>
    <p:sldId xmlns:r="http://schemas.openxmlformats.org/officeDocument/2006/relationships" id="258" r:id="R09c42d271a484b54"/>
    <p:sldId xmlns:r="http://schemas.openxmlformats.org/officeDocument/2006/relationships" id="259" r:id="Rab03d765fe7d4ab4"/>
    <p:sldId xmlns:r="http://schemas.openxmlformats.org/officeDocument/2006/relationships" id="260" r:id="R43f283e2e4dd4b15"/>
    <p:sldId xmlns:r="http://schemas.openxmlformats.org/officeDocument/2006/relationships" id="261" r:id="R8d4c8997becf4c2f"/>
    <p:sldId xmlns:r="http://schemas.openxmlformats.org/officeDocument/2006/relationships" id="262" r:id="Rafce3499b3424a29"/>
    <p:sldId xmlns:r="http://schemas.openxmlformats.org/officeDocument/2006/relationships" id="263" r:id="R6f9862685d454996"/>
    <p:sldId xmlns:r="http://schemas.openxmlformats.org/officeDocument/2006/relationships" id="264" r:id="R98ca38e548fd4056"/>
    <p:sldId xmlns:r="http://schemas.openxmlformats.org/officeDocument/2006/relationships" id="265" r:id="Rbe8f790855f3423a"/>
    <p:sldId xmlns:r="http://schemas.openxmlformats.org/officeDocument/2006/relationships" id="266" r:id="R306618c931e245fa"/>
    <p:sldId xmlns:r="http://schemas.openxmlformats.org/officeDocument/2006/relationships" id="267" r:id="R683bc54a6710419d"/>
    <p:sldId xmlns:r="http://schemas.openxmlformats.org/officeDocument/2006/relationships" id="268" r:id="Raea4c984f84f42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df178c2dd74220" /><Relationship Type="http://schemas.openxmlformats.org/officeDocument/2006/relationships/slideMaster" Target="/ppt/slideMasters/slideMaster1.xml" Id="Rc93a8fce3a33461e" /><Relationship Type="http://schemas.openxmlformats.org/officeDocument/2006/relationships/notesMaster" Target="/ppt/notesMasters/notesMaster1.xml" Id="Rea5177a387624470" /><Relationship Type="http://schemas.openxmlformats.org/officeDocument/2006/relationships/presProps" Target="/ppt/presProps.xml" Id="R83876839fd22469a" /><Relationship Type="http://schemas.openxmlformats.org/officeDocument/2006/relationships/viewProps" Target="/ppt/viewProps.xml" Id="R2cca7a3ab8bd4bef" /><Relationship Type="http://schemas.openxmlformats.org/officeDocument/2006/relationships/tableStyles" Target="/ppt/tableStyles.xml" Id="Rbda86dd2a0c44562" /><Relationship Type="http://schemas.openxmlformats.org/officeDocument/2006/relationships/slide" Target="/ppt/slides/slide1.xml" Id="Rca764db2e1ee4ec3" /><Relationship Type="http://schemas.openxmlformats.org/officeDocument/2006/relationships/slide" Target="/ppt/slides/slide2.xml" Id="R4cbe11b3148b4c62" /><Relationship Type="http://schemas.openxmlformats.org/officeDocument/2006/relationships/slide" Target="/ppt/slides/slide3.xml" Id="R09c42d271a484b54" /><Relationship Type="http://schemas.openxmlformats.org/officeDocument/2006/relationships/slide" Target="/ppt/slides/slide4.xml" Id="Rab03d765fe7d4ab4" /><Relationship Type="http://schemas.openxmlformats.org/officeDocument/2006/relationships/slide" Target="/ppt/slides/slide5.xml" Id="R43f283e2e4dd4b15" /><Relationship Type="http://schemas.openxmlformats.org/officeDocument/2006/relationships/slide" Target="/ppt/slides/slide6.xml" Id="R8d4c8997becf4c2f" /><Relationship Type="http://schemas.openxmlformats.org/officeDocument/2006/relationships/slide" Target="/ppt/slides/slide7.xml" Id="Rafce3499b3424a29" /><Relationship Type="http://schemas.openxmlformats.org/officeDocument/2006/relationships/slide" Target="/ppt/slides/slide8.xml" Id="R6f9862685d454996" /><Relationship Type="http://schemas.openxmlformats.org/officeDocument/2006/relationships/slide" Target="/ppt/slides/slide9.xml" Id="R98ca38e548fd4056" /><Relationship Type="http://schemas.openxmlformats.org/officeDocument/2006/relationships/slide" Target="/ppt/slides/slide10.xml" Id="Rbe8f790855f3423a" /><Relationship Type="http://schemas.openxmlformats.org/officeDocument/2006/relationships/slide" Target="/ppt/slides/slide11.xml" Id="R306618c931e245fa" /><Relationship Type="http://schemas.openxmlformats.org/officeDocument/2006/relationships/slide" Target="/ppt/slides/slide12.xml" Id="R683bc54a6710419d" /><Relationship Type="http://schemas.openxmlformats.org/officeDocument/2006/relationships/slide" Target="/ppt/slides/slide13.xml" Id="Raea4c984f84f42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83d6755a8943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7fa4a938fc4bc9" /><Relationship Type="http://schemas.openxmlformats.org/officeDocument/2006/relationships/notesMaster" Target="/ppt/notesMasters/notesMaster1.xml" Id="R6cff9f97cff147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46c8cd64064b04" /><Relationship Type="http://schemas.openxmlformats.org/officeDocument/2006/relationships/notesMaster" Target="/ppt/notesMasters/notesMaster1.xml" Id="Rc572cbbc9a544d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c5de2ce87e46b7" /><Relationship Type="http://schemas.openxmlformats.org/officeDocument/2006/relationships/notesMaster" Target="/ppt/notesMasters/notesMaster1.xml" Id="R482fbaf14df44f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e01be3c7504c99" /><Relationship Type="http://schemas.openxmlformats.org/officeDocument/2006/relationships/notesMaster" Target="/ppt/notesMasters/notesMaster1.xml" Id="R9a39313e920541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4bcae1fbbc4f23" /><Relationship Type="http://schemas.openxmlformats.org/officeDocument/2006/relationships/notesMaster" Target="/ppt/notesMasters/notesMaster1.xml" Id="R1ea1d821546446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d6b44e6854404e" /><Relationship Type="http://schemas.openxmlformats.org/officeDocument/2006/relationships/notesMaster" Target="/ppt/notesMasters/notesMaster1.xml" Id="R6ff8ac7536ba4d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9a064ef66f4a0c" /><Relationship Type="http://schemas.openxmlformats.org/officeDocument/2006/relationships/notesMaster" Target="/ppt/notesMasters/notesMaster1.xml" Id="R3ba04b353a3143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d903e65466414b" /><Relationship Type="http://schemas.openxmlformats.org/officeDocument/2006/relationships/notesMaster" Target="/ppt/notesMasters/notesMaster1.xml" Id="R87bb9b76e3a64e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9a4f8f16eb4381" /><Relationship Type="http://schemas.openxmlformats.org/officeDocument/2006/relationships/notesMaster" Target="/ppt/notesMasters/notesMaster1.xml" Id="R208a8ef2f46e43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36ff73739e4348" /><Relationship Type="http://schemas.openxmlformats.org/officeDocument/2006/relationships/notesMaster" Target="/ppt/notesMasters/notesMaster1.xml" Id="Ra572f212e7734a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0ba785e45b454f" /><Relationship Type="http://schemas.openxmlformats.org/officeDocument/2006/relationships/notesMaster" Target="/ppt/notesMasters/notesMaster1.xml" Id="R59dcff1f20334c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0a10a1353b4df4" /><Relationship Type="http://schemas.openxmlformats.org/officeDocument/2006/relationships/notesMaster" Target="/ppt/notesMasters/notesMaster1.xml" Id="R09e791d08d5c4c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c36d3c16b14f70" /><Relationship Type="http://schemas.openxmlformats.org/officeDocument/2006/relationships/notesMaster" Target="/ppt/notesMasters/notesMaster1.xml" Id="R2d0420302f3f4e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ФСП спец. трек ТЗ.pdf, страницы 2–8</a:t>
            </a:r>
          </a:p>
          <a:p xmlns:a="http://schemas.openxmlformats.org/drawingml/2006/main">
            <a:r>
              <a:t>- docs/requirements-traceability.md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Локальный интерфейс «Выготский», home-desktop.png</a:t>
            </a:r>
          </a:p>
          <a:p xmlns:a="http://schemas.openxmlformats.org/drawingml/2006/main">
            <a:r>
              <a:t>- Git history and repository ownership metadata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ФСП спец. трек ТЗ.pdf, проблема и обязательная механика обратного подбора</a:t>
            </a:r>
            <a:endParaRPr/>
          </a:p>
          <a:p xmlns:a="http://schemas.openxmlformats.org/drawingml/2006/main">
            <a:r>
              <a:t>- docs/product-scope.md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docs/product-scope.md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ФСП спец. трек ТЗ.pdf, обязательный пользовательский сценарий</a:t>
            </a:r>
          </a:p>
          <a:p xmlns:a="http://schemas.openxmlformats.org/drawingml/2006/main">
            <a:r>
              <a:t>- tests/test_auth.py; tests/test_assessment.py; tests/test_invitations.py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docs/testing-and-validation.md</a:t>
            </a:r>
          </a:p>
          <a:p xmlns:a="http://schemas.openxmlformats.org/drawingml/2006/main">
            <a:r>
              <a:t>- app/domain/scoring.py; app/domain/assessment.py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Локальный e2e screenshot candidate-account-final.png</a:t>
            </a:r>
          </a:p>
          <a:p xmlns:a="http://schemas.openxmlformats.org/drawingml/2006/main">
            <a:r>
              <a:t>- tests/test_accounts.py; tests/test_profile_pdf.py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Локальный e2e screenshot employer-account-desktop.png</a:t>
            </a:r>
          </a:p>
          <a:p xmlns:a="http://schemas.openxmlformats.org/drawingml/2006/main">
            <a:r>
              <a:t>- tests/test_accounts.py; tests/test_invitations.py; tests/test_applications.py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app/security.py; app/web/auth.py</a:t>
            </a:r>
          </a:p>
          <a:p xmlns:a="http://schemas.openxmlformats.org/drawingml/2006/main">
            <a:r>
              <a:t>- tests/test_auth.py; tests/test_accounts.py; tests/test_invitations.py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pytest run: 37 passed</a:t>
            </a:r>
          </a:p>
          <a:p xmlns:a="http://schemas.openxmlformats.org/drawingml/2006/main">
            <a:r>
              <a:t>- experiments/registry.json and experiments/artifacts/*.junit.xml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ФСП спец. трек ТЗ.pdf, дополнительные направления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synthesis based on docs/product-scope.md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a7c5b03024b39" /><Relationship Type="http://schemas.openxmlformats.org/officeDocument/2006/relationships/image" Target="/ppt/media/image2.png" Id="Rcd758261765240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97f293ad44c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72108ef2044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5a728dbb148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346d405ff4b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90ed1313b43f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80fe515624d4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bc90a4e65465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62768fd7e4c9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bcb828631464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057fea49e461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dfb23e73d48d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ecfafa888470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3e05d77efc4ce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1fad45b5b421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74915ee5e407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dc7d54c0e403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e4d0ab7ec4ae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355dbc2da4b2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9aa81dacb46b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4dfb469e8411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1daf6bfb64ae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98fce5d204087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cd758261765240d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02.10.2026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02.10.2026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02.10.2026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02.10.2026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02.10.2026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02.10.2026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94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02.10.2026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1a14654044b4bf2" /><Relationship Type="http://schemas.openxmlformats.org/officeDocument/2006/relationships/theme" Target="/ppt/slideMasters/theme/theme2.xml" Id="R8c35b0db0d6d437a" /><Relationship Type="http://schemas.openxmlformats.org/officeDocument/2006/relationships/slideLayout" Target="/ppt/slideLayouts/slideLayout1.xml" Id="Rd1a4c955f8ab4402" /><Relationship Type="http://schemas.openxmlformats.org/officeDocument/2006/relationships/slideLayout" Target="/ppt/slideLayouts/slideLayout2.xml" Id="Rc5e7a2dbc7204ad9" /><Relationship Type="http://schemas.openxmlformats.org/officeDocument/2006/relationships/slideLayout" Target="/ppt/slideLayouts/slideLayout3.xml" Id="Rbc93bb51528b4b46" /><Relationship Type="http://schemas.openxmlformats.org/officeDocument/2006/relationships/slideLayout" Target="/ppt/slideLayouts/slideLayout4.xml" Id="R3c6b4fd834c6474a" /><Relationship Type="http://schemas.openxmlformats.org/officeDocument/2006/relationships/slideLayout" Target="/ppt/slideLayouts/slideLayout5.xml" Id="R927c682894a44172" /><Relationship Type="http://schemas.openxmlformats.org/officeDocument/2006/relationships/slideLayout" Target="/ppt/slideLayouts/slideLayout6.xml" Id="R54852b37c9234b7a" /><Relationship Type="http://schemas.openxmlformats.org/officeDocument/2006/relationships/slideLayout" Target="/ppt/slideLayouts/slideLayout7.xml" Id="R7eae1178d4744db8" /><Relationship Type="http://schemas.openxmlformats.org/officeDocument/2006/relationships/slideLayout" Target="/ppt/slideLayouts/slideLayout8.xml" Id="R99303473ec394742" /><Relationship Type="http://schemas.openxmlformats.org/officeDocument/2006/relationships/slideLayout" Target="/ppt/slideLayouts/slideLayout9.xml" Id="R13667f0e9a4448d7" /><Relationship Type="http://schemas.openxmlformats.org/officeDocument/2006/relationships/slideLayout" Target="/ppt/slideLayouts/slideLayout10.xml" Id="Rbb95a30cf71c4394" /><Relationship Type="http://schemas.openxmlformats.org/officeDocument/2006/relationships/slideLayout" Target="/ppt/slideLayouts/slideLayout11.xml" Id="R1f3d3bf707ff470f" /><Relationship Type="http://schemas.openxmlformats.org/officeDocument/2006/relationships/slideLayout" Target="/ppt/slideLayouts/slideLayout12.xml" Id="R73a6917af1154156" /><Relationship Type="http://schemas.openxmlformats.org/officeDocument/2006/relationships/slideLayout" Target="/ppt/slideLayouts/slideLayout13.xml" Id="Rdb06b306350c4c6d" /><Relationship Type="http://schemas.openxmlformats.org/officeDocument/2006/relationships/slideLayout" Target="/ppt/slideLayouts/slideLayout14.xml" Id="R5ba7076fc5d24b95" /><Relationship Type="http://schemas.openxmlformats.org/officeDocument/2006/relationships/slideLayout" Target="/ppt/slideLayouts/slideLayout15.xml" Id="R78cb7955d030467b" /><Relationship Type="http://schemas.openxmlformats.org/officeDocument/2006/relationships/slideLayout" Target="/ppt/slideLayouts/slideLayout16.xml" Id="Rb73c756ce9004659" /><Relationship Type="http://schemas.openxmlformats.org/officeDocument/2006/relationships/slideLayout" Target="/ppt/slideLayouts/slideLayout17.xml" Id="Ree78ffbc6c214c6e" /><Relationship Type="http://schemas.openxmlformats.org/officeDocument/2006/relationships/slideLayout" Target="/ppt/slideLayouts/slideLayout18.xml" Id="R3eca8936be784477" /><Relationship Type="http://schemas.openxmlformats.org/officeDocument/2006/relationships/slideLayout" Target="/ppt/slideLayouts/slideLayout19.xml" Id="Rccc38f4cb3654e7d" /><Relationship Type="http://schemas.openxmlformats.org/officeDocument/2006/relationships/slideLayout" Target="/ppt/slideLayouts/slideLayout20.xml" Id="R0ebbd5ca0ae14426" /><Relationship Type="http://schemas.openxmlformats.org/officeDocument/2006/relationships/slideLayout" Target="/ppt/slideLayouts/slideLayout21.xml" Id="Rfb557a212561423f" /><Relationship Type="http://schemas.openxmlformats.org/officeDocument/2006/relationships/slideLayout" Target="/ppt/slideLayouts/slideLayout22.xml" Id="R0152c96a99fc47ab" /><Relationship Type="http://schemas.openxmlformats.org/officeDocument/2006/relationships/slideLayout" Target="/ppt/slideLayouts/slideLayout23.xml" Id="R6073965d8b9b4da2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a14654044b4bf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02.10.2026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a4c955f8ab4402"/>
    <p:sldLayoutId xmlns:r="http://schemas.openxmlformats.org/officeDocument/2006/relationships" id="2147483650" r:id="Rc5e7a2dbc7204ad9"/>
    <p:sldLayoutId xmlns:r="http://schemas.openxmlformats.org/officeDocument/2006/relationships" id="2147483651" r:id="Rbc93bb51528b4b46"/>
    <p:sldLayoutId xmlns:r="http://schemas.openxmlformats.org/officeDocument/2006/relationships" id="2147483652" r:id="R3c6b4fd834c6474a"/>
    <p:sldLayoutId xmlns:r="http://schemas.openxmlformats.org/officeDocument/2006/relationships" id="2147483653" r:id="R927c682894a44172"/>
    <p:sldLayoutId xmlns:r="http://schemas.openxmlformats.org/officeDocument/2006/relationships" id="2147483654" r:id="R54852b37c9234b7a"/>
    <p:sldLayoutId xmlns:r="http://schemas.openxmlformats.org/officeDocument/2006/relationships" id="2147483655" r:id="R7eae1178d4744db8"/>
    <p:sldLayoutId xmlns:r="http://schemas.openxmlformats.org/officeDocument/2006/relationships" id="2147483656" r:id="R99303473ec394742"/>
    <p:sldLayoutId xmlns:r="http://schemas.openxmlformats.org/officeDocument/2006/relationships" id="2147483657" r:id="R13667f0e9a4448d7"/>
    <p:sldLayoutId xmlns:r="http://schemas.openxmlformats.org/officeDocument/2006/relationships" id="2147483658" r:id="Rbb95a30cf71c4394"/>
    <p:sldLayoutId xmlns:r="http://schemas.openxmlformats.org/officeDocument/2006/relationships" id="2147483659" r:id="R1f3d3bf707ff470f"/>
    <p:sldLayoutId xmlns:r="http://schemas.openxmlformats.org/officeDocument/2006/relationships" id="2147483660" r:id="R73a6917af1154156"/>
    <p:sldLayoutId xmlns:r="http://schemas.openxmlformats.org/officeDocument/2006/relationships" id="2147483661" r:id="Rdb06b306350c4c6d"/>
    <p:sldLayoutId xmlns:r="http://schemas.openxmlformats.org/officeDocument/2006/relationships" id="2147483662" r:id="R5ba7076fc5d24b95"/>
    <p:sldLayoutId xmlns:r="http://schemas.openxmlformats.org/officeDocument/2006/relationships" id="2147483663" r:id="R78cb7955d030467b"/>
    <p:sldLayoutId xmlns:r="http://schemas.openxmlformats.org/officeDocument/2006/relationships" id="2147483664" r:id="Rb73c756ce9004659"/>
    <p:sldLayoutId xmlns:r="http://schemas.openxmlformats.org/officeDocument/2006/relationships" id="2147483665" r:id="Ree78ffbc6c214c6e"/>
    <p:sldLayoutId xmlns:r="http://schemas.openxmlformats.org/officeDocument/2006/relationships" id="2147483666" r:id="R3eca8936be784477"/>
    <p:sldLayoutId xmlns:r="http://schemas.openxmlformats.org/officeDocument/2006/relationships" id="2147483667" r:id="Rccc38f4cb3654e7d"/>
    <p:sldLayoutId xmlns:r="http://schemas.openxmlformats.org/officeDocument/2006/relationships" id="2147483668" r:id="R0ebbd5ca0ae14426"/>
    <p:sldLayoutId xmlns:r="http://schemas.openxmlformats.org/officeDocument/2006/relationships" id="2147483669" r:id="Rfb557a212561423f"/>
    <p:sldLayoutId xmlns:r="http://schemas.openxmlformats.org/officeDocument/2006/relationships" id="2147483670" r:id="R0152c96a99fc47ab"/>
    <p:sldLayoutId xmlns:r="http://schemas.openxmlformats.org/officeDocument/2006/relationships" id="2147483671" r:id="R6073965d8b9b4da2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ed7d5861d4c6e" /><Relationship Type="http://schemas.openxmlformats.org/officeDocument/2006/relationships/image" Target="/ppt/media/image3.png" Id="R1447195ecb11423c" /><Relationship Type="http://schemas.openxmlformats.org/officeDocument/2006/relationships/notesSlide" Target="/ppt/notesSlides/notesSlide1.xml" Id="Ra35b7f608dd34d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51c7ed4365453e" /><Relationship Type="http://schemas.openxmlformats.org/officeDocument/2006/relationships/image" Target="/ppt/media/image4.png" Id="R2331e4e97e17466f" /><Relationship Type="http://schemas.openxmlformats.org/officeDocument/2006/relationships/image" Target="/ppt/media/image5.png" Id="R538944c0d5f54435" /><Relationship Type="http://schemas.openxmlformats.org/officeDocument/2006/relationships/notesSlide" Target="/ppt/notesSlides/notesSlide2.xml" Id="Rcd1881d391e742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234e7bf5ab4ee8" /><Relationship Type="http://schemas.openxmlformats.org/officeDocument/2006/relationships/image" Target="/ppt/media/image6.png" Id="Rdd92889792e74daf" /><Relationship Type="http://schemas.openxmlformats.org/officeDocument/2006/relationships/notesSlide" Target="/ppt/notesSlides/notesSlide3.xml" Id="R12c2916d15b44b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d05a7a5806848b4" /><Relationship Type="http://schemas.openxmlformats.org/officeDocument/2006/relationships/image" Target="/ppt/media/image.png" Id="Ref31a3fd26e74e41" /><Relationship Type="http://schemas.openxmlformats.org/officeDocument/2006/relationships/notesSlide" Target="/ppt/notesSlides/notesSlide4.xml" Id="R01c9fc57f8234b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208936d086d4690" /><Relationship Type="http://schemas.openxmlformats.org/officeDocument/2006/relationships/image" Target="/ppt/media/image4.png" Id="Red991a81a65f463b" /><Relationship Type="http://schemas.openxmlformats.org/officeDocument/2006/relationships/notesSlide" Target="/ppt/notesSlides/notesSlide5.xml" Id="R8588be66339646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d46916223f349be" /><Relationship Type="http://schemas.openxmlformats.org/officeDocument/2006/relationships/image" Target="/ppt/media/image.png" Id="R38ae036adb2f470e" /><Relationship Type="http://schemas.openxmlformats.org/officeDocument/2006/relationships/notesSlide" Target="/ppt/notesSlides/notesSlide6.xml" Id="Rd19836f53c1f4e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9dbea30cf14b26" /><Relationship Type="http://schemas.openxmlformats.org/officeDocument/2006/relationships/image" Target="/ppt/media/image4.png" Id="Raf258969123143a1" /><Relationship Type="http://schemas.openxmlformats.org/officeDocument/2006/relationships/image" Target="/ppt/media/image7.png" Id="Rc5075541a1264ed2" /><Relationship Type="http://schemas.openxmlformats.org/officeDocument/2006/relationships/notesSlide" Target="/ppt/notesSlides/notesSlide7.xml" Id="Rf9f0038fb55341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f4f915735f49a6" /><Relationship Type="http://schemas.openxmlformats.org/officeDocument/2006/relationships/image" Target="/ppt/media/image4.png" Id="R24aaf5b8797f4746" /><Relationship Type="http://schemas.openxmlformats.org/officeDocument/2006/relationships/image" Target="/ppt/media/image8.png" Id="Rec905965f5e142c5" /><Relationship Type="http://schemas.openxmlformats.org/officeDocument/2006/relationships/notesSlide" Target="/ppt/notesSlides/notesSlide8.xml" Id="R277cd6468e1f4a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ba91e7107d04226" /><Relationship Type="http://schemas.openxmlformats.org/officeDocument/2006/relationships/image" Target="/ppt/media/image4.png" Id="R5eeba739ee754384" /><Relationship Type="http://schemas.openxmlformats.org/officeDocument/2006/relationships/notesSlide" Target="/ppt/notesSlides/notesSlide9.xml" Id="R06be2133fa4344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cfe6be338ca4f04" /><Relationship Type="http://schemas.openxmlformats.org/officeDocument/2006/relationships/image" Target="/ppt/media/image6.png" Id="R3d49e1ba435549db" /><Relationship Type="http://schemas.openxmlformats.org/officeDocument/2006/relationships/notesSlide" Target="/ppt/notesSlides/notesSlide10.xml" Id="R970bdd4d3a1446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bc72c07639c40a2" /><Relationship Type="http://schemas.openxmlformats.org/officeDocument/2006/relationships/image" Target="/ppt/media/image6.png" Id="Rc083f4c09864418e" /><Relationship Type="http://schemas.openxmlformats.org/officeDocument/2006/relationships/chart" Target="/ppt/slides/charts/chart1.xml" Id="Rf7d84fb6deda44dc" /><Relationship Type="http://schemas.openxmlformats.org/officeDocument/2006/relationships/notesSlide" Target="/ppt/notesSlides/notesSlide11.xml" Id="R5e13cca5a78442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920a6b51c714b3c" /><Relationship Type="http://schemas.openxmlformats.org/officeDocument/2006/relationships/image" Target="/ppt/media/image.png" Id="Rc6dfbfa3a5314a1f" /><Relationship Type="http://schemas.openxmlformats.org/officeDocument/2006/relationships/notesSlide" Target="/ppt/notesSlides/notesSlide12.xml" Id="R437f98c752254c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be17460334367" /><Relationship Type="http://schemas.openxmlformats.org/officeDocument/2006/relationships/image" Target="/ppt/media/image3.png" Id="Rad004ccf4acb4c24" /><Relationship Type="http://schemas.openxmlformats.org/officeDocument/2006/relationships/notesSlide" Target="/ppt/notesSlides/notesSlide13.xml" Id="R0f2db54b13af471d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"/>
          <c:h val="0.667471422716611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 w="63500">
              <a:solidFill>
                <a:schemeClr val="accent2"/>
              </a:solidFill>
            </a:ln>
          </c:spPr>
          <c:dPt>
            <c:idx val="0"/>
            <c:invertIfNegative val="0"/>
            <c:spPr>
              <a:solidFill xmlns:a="http://schemas.openxmlformats.org/drawingml/2006/main">
                <a:schemeClr val="accent2"/>
              </a:solidFill>
              <a:ln xmlns:a="http://schemas.openxmlformats.org/drawingml/2006/main" w="6350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chemeClr val="accent4"/>
              </a:solidFill>
              <a:ln xmlns:a="http://schemas.openxmlformats.org/drawingml/2006/main" w="6350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chemeClr val="accent5"/>
              </a:solidFill>
              <a:ln xmlns:a="http://schemas.openxmlformats.org/drawingml/2006/main" w="63500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chemeClr val="accent1"/>
              </a:solidFill>
              <a:ln xmlns:a="http://schemas.openxmlformats.org/drawingml/2006/main" w="63500">
                <a:noFill/>
              </a:ln>
            </c:spPr>
          </c:dPt>
          <c:cat>
            <c:strRef>
              <c:f>Лист1!$A$2:$A$5</c:f>
              <c:strCache>
                <c:ptCount val="4"/>
                <c:pt idx="0">
                  <c:v>Тесты</c:v>
                </c:pt>
                <c:pt idx="1">
                  <c:v>Эксперименты</c:v>
                </c:pt>
                <c:pt idx="2">
                  <c:v>Роли</c:v>
                </c:pt>
                <c:pt idx="3">
                  <c:v>CPU path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37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173587135"/>
        <c:crosses val="autoZero"/>
      </c:catAx>
      <c:valAx>
        <c:axId val="1173587135"/>
        <c:scaling>
          <c:orientation val="minMax"/>
        </c:scaling>
        <c:delete val="0"/>
        <c:axPos val="b"/>
        <c:majorGridlines>
          <c:spPr>
            <a:ln xmlns:a="http://schemas.openxmlformats.org/drawingml/2006/main" w="9525" cmpd="sng">
              <a:solidFill>
                <a:schemeClr val="tx1">
                  <a:alpha val="50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688540351"/>
        <c:crosses val="autoZero"/>
        <c:crossBetween val="between"/>
        <c:majorUnit val="1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t>ВЫГОТСКИЙ</a:t>
            </a:r>
            <a:endParaRPr sz="4800"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271463" indent="-3175">
              <a:buNone/>
            </a:pPr>
            <a:r>
              <a:t>Обратный найм ИТ-специалистов по доказательствам навыков</a:t>
            </a:r>
          </a:p>
          <a:p xmlns:a="http://schemas.openxmlformats.org/drawingml/2006/main">
            <a:pPr marL="271463" indent="-3175">
              <a:buNone/>
            </a:pPr>
            <a:r>
              <a:t>Трек Федерации спортивного программирования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7195ecb1142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075" y="631174"/>
            <a:ext cx="4905194" cy="6200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331e4e97e17466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Рисунок 1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538944c0d5f54435"/>
          <a:stretch xmlns:a="http://schemas.openxmlformats.org/drawingml/2006/main"/>
        </p:blipFill>
        <p:spPr>
          <a:xfrm xmlns:a="http://schemas.openxmlformats.org/drawingml/2006/main" flipH="0" flipV="0">
            <a:off x="0" y="335267"/>
            <a:ext cx="6456363" cy="2971784"/>
          </a:xfrm>
          <a:prstGeom xmlns:a="http://schemas.openxmlformats.org/drawingml/2006/main" prst="rect">
            <a:avLst/>
          </a:prstGeom>
        </p:spPr>
      </p:pic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Что уже собрано: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Работодатель начинает не с резюме, а с проверяемой карты навыков — и сам приглашает подходящего кандидата.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Дмитрий Кирпа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Product · UX · backend · frontend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Полный цикл: от модели навыков до deployment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Репозиторий: KirpaDmitriy/sport-programming-federation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Автор продукта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И РЕШЕНИЕ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2B26F77A-6394-4540-ACF8-376F4FA7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E68476D5-8507-4816-A819-9ECA2395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CD38D2EB-43EA-4D27-BA7B-0F4E28F3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Главная ставка: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Рабочий MVP с двумя кабинетами, email-входом, тестом грейда, вакансиями, приглашениями и откликами.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E2598689-54C9-18A7-3A19-ED76AA08988F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d92889792e74da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accent5"/>
                </a:solidFill>
              </a:rPr>
              <a:t>3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ПОЧЕМУ НЕ РЕЗЮМЕ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Стек перечислен, но глубина и свежесть навыка не доказаны. Спортивный результат лежит отдельно от карьерного профиля.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Сигнал размывается: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Тест и соревнования превращаются в граф компетенций. Работодатель видит уровень, уверенность, пробелы и объяснение позиции в выдаче.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Что меняется в «Выготском»?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Ключевые слова находят похожие формулировки, а не подтверждённое покрытие требований вакансии.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обычный поиск не решает задачу?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B1FE239F-E503-46B1-9234-E4E7126D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86ED60FF-DD64-4FCB-8737-DF5AFB8D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662668A8-A4F1-4653-943B-FEF8BAB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f31a3fd26e74e4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bg1"/>
                </a:solidFill>
              </a:rPr>
              <a:t>4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B1325"/>
                </a:solidFill>
              </a:rPr>
              <a:t>Вариативный тест подтверждает специализацию и грейд</a:t>
            </a:r>
          </a:p>
          <a:p xmlns:a="http://schemas.openxmlformats.org/drawingml/2006/main">
            <a:r>
              <a:rPr sz="1400">
                <a:solidFill>
                  <a:srgbClr val="1B1325"/>
                </a:solidFill>
              </a:rPr>
              <a:t>Результаты ФСП усиливают профиль, но не обязательны</a:t>
            </a:r>
          </a:p>
          <a:p xmlns:a="http://schemas.openxmlformats.org/drawingml/2006/main">
            <a:r>
              <a:rPr sz="1400">
                <a:solidFill>
                  <a:srgbClr val="1B1325"/>
                </a:solidFill>
              </a:rPr>
              <a:t>Уровень навыка отделён от уверенности</a:t>
            </a:r>
          </a:p>
          <a:p xmlns:a="http://schemas.openxmlformats.org/drawingml/2006/main">
            <a:r>
              <a:rPr sz="1400">
                <a:solidFill>
                  <a:srgbClr val="1B1325"/>
                </a:solidFill>
              </a:rPr>
              <a:t>PDF-профиль стандартизирован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B1325"/>
                </a:solidFill>
              </a:rPr>
              <a:t>Работодатель задаёт граф требований</a:t>
            </a:r>
          </a:p>
          <a:p xmlns:a="http://schemas.openxmlformats.org/drawingml/2006/main">
            <a:pPr marL="0" indent="0">
              <a:buNone/>
            </a:pPr>
            <a:r>
              <a:rPr>
                <a:solidFill>
                  <a:srgbClr val="1B1325"/>
                </a:solidFill>
              </a:rPr>
              <a:t>Получает объяснимый топ кандидатов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</a:pPr>
            <a:r>
              <a:rPr>
                <a:solidFill>
                  <a:srgbClr val="1B1325"/>
                </a:solidFill>
              </a:rPr>
              <a:t>Приглашает без обязательной вакансии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</a:pPr>
            <a:r>
              <a:rPr>
                <a:solidFill>
                  <a:srgbClr val="1B1325"/>
                </a:solidFill>
              </a:rPr>
              <a:t>Контакт открывается только после согласия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Доказательный профиль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Обратный найм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d991a81a65f463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 xmlns:a="http://schemas.openxmlformats.org/drawingml/2006/main"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accent5"/>
                </a:solidFill>
              </a:rPr>
              <a:t>5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Регистрация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Email подтверждён; роль и сессия изолированы.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Профиль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Стек, опыт, согласия и опциональный FSP ID.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Сопоставимый вариант подтверждает категорию и грейд.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Подбор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5181340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Навыки сравниваются с графом требований.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Решение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5181340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Принять приглашение или самому откликнуться.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4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C21A5179-0D9D-498E-8720-D192034D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40" y="3860224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3A701294-FB72-455A-B00D-6DE39BB8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137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Прямая соединительная линия 35">
            <a:extLst xmlns:a="http://schemas.openxmlformats.org/drawingml/2006/main">
              <a:ext uri="{FF2B5EF4-FFF2-40B4-BE49-F238E27FC236}">
                <a16:creationId xmlns:a16="http://schemas.microsoft.com/office/drawing/2014/main" id="{8400A4CC-DB37-4F71-B233-883FFC6A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334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Прямая соединительная линия 36">
            <a:extLst xmlns:a="http://schemas.openxmlformats.org/drawingml/2006/main">
              <a:ext uri="{FF2B5EF4-FFF2-40B4-BE49-F238E27FC236}">
                <a16:creationId xmlns:a16="http://schemas.microsoft.com/office/drawing/2014/main" id="{251A34B2-819F-41ED-A0BE-EA35393F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467" y="3862139"/>
            <a:ext cx="133254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Прямая соединительная линия 37">
            <a:extLst xmlns:a="http://schemas.openxmlformats.org/drawingml/2006/main">
              <a:ext uri="{FF2B5EF4-FFF2-40B4-BE49-F238E27FC236}">
                <a16:creationId xmlns:a16="http://schemas.microsoft.com/office/drawing/2014/main" id="{A08A00FA-FA23-4F16-BA4A-1FEBDD66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114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Прямая соединительная линия 38">
            <a:extLst xmlns:a="http://schemas.openxmlformats.org/drawingml/2006/main">
              <a:ext uri="{FF2B5EF4-FFF2-40B4-BE49-F238E27FC236}">
                <a16:creationId xmlns:a16="http://schemas.microsoft.com/office/drawing/2014/main" id="{7A50082C-9655-4E80-BE76-0EBA897C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12" y="4216228"/>
            <a:ext cx="1245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Прямая соединительная линия 39">
            <a:extLst xmlns:a="http://schemas.openxmlformats.org/drawingml/2006/main">
              <a:ext uri="{FF2B5EF4-FFF2-40B4-BE49-F238E27FC236}">
                <a16:creationId xmlns:a16="http://schemas.microsoft.com/office/drawing/2014/main" id="{51BA3571-DCE6-4432-9F93-6C9780F8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4762"/>
            <a:ext cx="5509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4BA2F567-201C-415B-8F30-5FACE1BC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43442" y="4216228"/>
            <a:ext cx="4264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Прямая соединительная линия 41">
            <a:extLst xmlns:a="http://schemas.openxmlformats.org/drawingml/2006/main">
              <a:ext uri="{FF2B5EF4-FFF2-40B4-BE49-F238E27FC236}">
                <a16:creationId xmlns:a16="http://schemas.microsoft.com/office/drawing/2014/main" id="{3EFFE648-55DB-4767-9B2A-2D50D70D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901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Скругленный прямоугольник 42">
            <a:extLst xmlns:a="http://schemas.openxmlformats.org/drawingml/2006/main"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26" y="3508049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44" name="Скругленный прямоугольник 43">
            <a:extLst xmlns:a="http://schemas.openxmlformats.org/drawingml/2006/main"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397" y="350613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45" name="Скругленный прямоугольник 44">
            <a:extLst xmlns:a="http://schemas.openxmlformats.org/drawingml/2006/main"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94" y="351625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53" name="Скругленный прямоугольник 52">
            <a:extLst xmlns:a="http://schemas.openxmlformats.org/drawingml/2006/main"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752" y="350613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54" name="Скругленный прямоугольник 53">
            <a:extLst xmlns:a="http://schemas.openxmlformats.org/drawingml/2006/main"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012" y="353862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ПУТЬ КАНДИДАТА</a:t>
            </a:r>
            <a:endParaRPr/>
          </a:p>
        </p:txBody>
      </p:sp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6" name="Скругленный 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1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78" y="4825338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708" y="4791290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8ae036adb2f470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41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37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133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262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018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accent5"/>
                </a:solidFill>
              </a:rPr>
              <a:t>6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16304" y="328681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ТЕСТ ГРЕЙДА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rgbClr val="24172E"/>
                </a:solidFill>
              </a:rPr>
              <a:t>Blueprint сохраняет темы и сложность, формулировки меняются внутри эквивалентных семейств.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4569890" y="326454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СПОРТИВНЫЙ РЕЗУЛЬТАТ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rgbClr val="24172E"/>
                </a:solidFill>
              </a:rPr>
              <a:t>Место, массовость, сложность, официальность, роль и тематическая релевантность.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8405081" y="3277471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ТРЕБОВАНИЕ ВАКАНСИИ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rgbClr val="24172E"/>
                </a:solidFill>
              </a:rPr>
              <a:t>Уровень + критичность каждого навыка; политика доверия или allowlist соревнований.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167" name="Google Shape;2799;p94"/>
          <p:cNvCxnSpPr/>
          <p:nvPr/>
        </p:nvCxnSpPr>
        <p:spPr>
          <a:xfrm xmlns:a="http://schemas.openxmlformats.org/drawingml/2006/main" flipV="1">
            <a:off x="3041995" y="2120995"/>
            <a:ext cx="2288595" cy="1147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3" name="Google Shape;2830;p94">
            <a:extLst xmlns:a="http://schemas.openxmlformats.org/drawingml/2006/main">
              <a:ext uri="{FF2B5EF4-FFF2-40B4-BE49-F238E27FC236}">
                <a16:creationId xmlns:a16="http://schemas.microsoft.com/office/drawing/2014/main" id="{F538E3A9-5C7B-406B-80D1-B9EEBFF3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9087" y="1753233"/>
            <a:ext cx="738530" cy="687909"/>
          </a:xfrm>
          <a:custGeom xmlns:a="http://schemas.openxmlformats.org/drawingml/2006/main"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2831;p94">
            <a:extLst xmlns:a="http://schemas.openxmlformats.org/drawingml/2006/main">
              <a:ext uri="{FF2B5EF4-FFF2-40B4-BE49-F238E27FC236}">
                <a16:creationId xmlns:a16="http://schemas.microsoft.com/office/drawing/2014/main" id="{6A25AEAC-89F0-49CB-B7BE-42F11987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88385"/>
            <a:ext cx="311114" cy="244088"/>
          </a:xfrm>
          <a:custGeom xmlns:a="http://schemas.openxmlformats.org/drawingml/2006/main"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2832;p94">
            <a:extLst xmlns:a="http://schemas.openxmlformats.org/drawingml/2006/main">
              <a:ext uri="{FF2B5EF4-FFF2-40B4-BE49-F238E27FC236}">
                <a16:creationId xmlns:a16="http://schemas.microsoft.com/office/drawing/2014/main" id="{3504136F-174E-465D-95D8-13EE2C34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84" y="1938446"/>
            <a:ext cx="20941" cy="30065"/>
          </a:xfrm>
          <a:custGeom xmlns:a="http://schemas.openxmlformats.org/drawingml/2006/main"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2833;p94">
            <a:extLst xmlns:a="http://schemas.openxmlformats.org/drawingml/2006/main">
              <a:ext uri="{FF2B5EF4-FFF2-40B4-BE49-F238E27FC236}">
                <a16:creationId xmlns:a16="http://schemas.microsoft.com/office/drawing/2014/main" id="{1A03FD0C-7738-4A35-B44B-4D9C0E75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7599" y="1908454"/>
            <a:ext cx="22617" cy="30065"/>
          </a:xfrm>
          <a:custGeom xmlns:a="http://schemas.openxmlformats.org/drawingml/2006/main"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2834;p94">
            <a:extLst xmlns:a="http://schemas.openxmlformats.org/drawingml/2006/main">
              <a:ext uri="{FF2B5EF4-FFF2-40B4-BE49-F238E27FC236}">
                <a16:creationId xmlns:a16="http://schemas.microsoft.com/office/drawing/2014/main" id="{66009B1B-C6FD-49B8-8022-7BA95FBA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8361" y="1843211"/>
            <a:ext cx="22691" cy="30065"/>
          </a:xfrm>
          <a:custGeom xmlns:a="http://schemas.openxmlformats.org/drawingml/2006/main"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2835;p94">
            <a:extLst xmlns:a="http://schemas.openxmlformats.org/drawingml/2006/main">
              <a:ext uri="{FF2B5EF4-FFF2-40B4-BE49-F238E27FC236}">
                <a16:creationId xmlns:a16="http://schemas.microsoft.com/office/drawing/2014/main" id="{842A40FB-E85F-45B5-A562-0F31875B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11440"/>
            <a:ext cx="59172" cy="21254"/>
          </a:xfrm>
          <a:custGeom xmlns:a="http://schemas.openxmlformats.org/drawingml/2006/main"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2836;p94">
            <a:extLst xmlns:a="http://schemas.openxmlformats.org/drawingml/2006/main">
              <a:ext uri="{FF2B5EF4-FFF2-40B4-BE49-F238E27FC236}">
                <a16:creationId xmlns:a16="http://schemas.microsoft.com/office/drawing/2014/main" id="{543973E7-B229-4280-95BA-F224FDE6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52022"/>
            <a:ext cx="102586" cy="23030"/>
          </a:xfrm>
          <a:custGeom xmlns:a="http://schemas.openxmlformats.org/drawingml/2006/main"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2837;p94">
            <a:extLst xmlns:a="http://schemas.openxmlformats.org/drawingml/2006/main">
              <a:ext uri="{FF2B5EF4-FFF2-40B4-BE49-F238E27FC236}">
                <a16:creationId xmlns:a16="http://schemas.microsoft.com/office/drawing/2014/main" id="{41575783-12EF-40FC-B478-EC50906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1636" y="1846765"/>
            <a:ext cx="67855" cy="116416"/>
          </a:xfrm>
          <a:custGeom xmlns:a="http://schemas.openxmlformats.org/drawingml/2006/main"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2838;p94">
            <a:extLst xmlns:a="http://schemas.openxmlformats.org/drawingml/2006/main">
              <a:ext uri="{FF2B5EF4-FFF2-40B4-BE49-F238E27FC236}">
                <a16:creationId xmlns:a16="http://schemas.microsoft.com/office/drawing/2014/main" id="{6F0CCC03-3E72-49CA-80F0-A626E239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4287" y="1811440"/>
            <a:ext cx="182552" cy="185289"/>
          </a:xfrm>
          <a:custGeom xmlns:a="http://schemas.openxmlformats.org/drawingml/2006/main"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2839;p94">
            <a:extLst xmlns:a="http://schemas.openxmlformats.org/drawingml/2006/main">
              <a:ext uri="{FF2B5EF4-FFF2-40B4-BE49-F238E27FC236}">
                <a16:creationId xmlns:a16="http://schemas.microsoft.com/office/drawing/2014/main" id="{18635451-A733-4CC9-B50F-300CE78C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23092"/>
            <a:ext cx="99157" cy="23030"/>
          </a:xfrm>
          <a:custGeom xmlns:a="http://schemas.openxmlformats.org/drawingml/2006/main"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2840;p94">
            <a:extLst xmlns:a="http://schemas.openxmlformats.org/drawingml/2006/main">
              <a:ext uri="{FF2B5EF4-FFF2-40B4-BE49-F238E27FC236}">
                <a16:creationId xmlns:a16="http://schemas.microsoft.com/office/drawing/2014/main" id="{26780036-310A-4D31-A416-A5EB695F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19420" y="2067156"/>
            <a:ext cx="55670" cy="21254"/>
          </a:xfrm>
          <a:custGeom xmlns:a="http://schemas.openxmlformats.org/drawingml/2006/main"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2841;p94">
            <a:extLst xmlns:a="http://schemas.openxmlformats.org/drawingml/2006/main">
              <a:ext uri="{FF2B5EF4-FFF2-40B4-BE49-F238E27FC236}">
                <a16:creationId xmlns:a16="http://schemas.microsoft.com/office/drawing/2014/main" id="{76A8C9FE-70F9-46C6-890D-45DD60B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67156"/>
            <a:ext cx="62675" cy="21254"/>
          </a:xfrm>
          <a:custGeom xmlns:a="http://schemas.openxmlformats.org/drawingml/2006/main"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2842;p94">
            <a:extLst xmlns:a="http://schemas.openxmlformats.org/drawingml/2006/main">
              <a:ext uri="{FF2B5EF4-FFF2-40B4-BE49-F238E27FC236}">
                <a16:creationId xmlns:a16="http://schemas.microsoft.com/office/drawing/2014/main" id="{97FED165-3DBA-426F-92BB-B0C3DB5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3821" y="2067156"/>
            <a:ext cx="41808" cy="21254"/>
          </a:xfrm>
          <a:custGeom xmlns:a="http://schemas.openxmlformats.org/drawingml/2006/main"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2843;p94">
            <a:extLst xmlns:a="http://schemas.openxmlformats.org/drawingml/2006/main">
              <a:ext uri="{FF2B5EF4-FFF2-40B4-BE49-F238E27FC236}">
                <a16:creationId xmlns:a16="http://schemas.microsoft.com/office/drawing/2014/main" id="{386E4A42-856C-4795-ABCB-63A7928B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109516"/>
            <a:ext cx="187734" cy="22957"/>
          </a:xfrm>
          <a:custGeom xmlns:a="http://schemas.openxmlformats.org/drawingml/2006/main"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2819;p94">
            <a:extLst xmlns:a="http://schemas.openxmlformats.org/drawingml/2006/main">
              <a:ext uri="{FF2B5EF4-FFF2-40B4-BE49-F238E27FC236}">
                <a16:creationId xmlns:a16="http://schemas.microsoft.com/office/drawing/2014/main" id="{148574C2-EBD4-4199-9829-8DFDEA9C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0541" y="1913934"/>
            <a:ext cx="38305" cy="28808"/>
          </a:xfrm>
          <a:custGeom xmlns:a="http://schemas.openxmlformats.org/drawingml/2006/main"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2820;p94">
            <a:extLst xmlns:a="http://schemas.openxmlformats.org/drawingml/2006/main">
              <a:ext uri="{FF2B5EF4-FFF2-40B4-BE49-F238E27FC236}">
                <a16:creationId xmlns:a16="http://schemas.microsoft.com/office/drawing/2014/main" id="{57E0AF51-B6FC-41BD-911C-FDDBED10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7923" y="1873128"/>
            <a:ext cx="34876" cy="34287"/>
          </a:xfrm>
          <a:custGeom xmlns:a="http://schemas.openxmlformats.org/drawingml/2006/main"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2821;p94">
            <a:extLst xmlns:a="http://schemas.openxmlformats.org/drawingml/2006/main">
              <a:ext uri="{FF2B5EF4-FFF2-40B4-BE49-F238E27FC236}">
                <a16:creationId xmlns:a16="http://schemas.microsoft.com/office/drawing/2014/main" id="{57B8954A-C826-4A9B-B657-89922358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9223" y="1960292"/>
            <a:ext cx="38305" cy="24735"/>
          </a:xfrm>
          <a:custGeom xmlns:a="http://schemas.openxmlformats.org/drawingml/2006/main"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2822;p94">
            <a:extLst xmlns:a="http://schemas.openxmlformats.org/drawingml/2006/main">
              <a:ext uri="{FF2B5EF4-FFF2-40B4-BE49-F238E27FC236}">
                <a16:creationId xmlns:a16="http://schemas.microsoft.com/office/drawing/2014/main" id="{0E034DD0-4B55-4B91-A037-3246A0A2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0488" y="1722647"/>
            <a:ext cx="738530" cy="731528"/>
          </a:xfrm>
          <a:custGeom xmlns:a="http://schemas.openxmlformats.org/drawingml/2006/main"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2823;p94">
            <a:extLst xmlns:a="http://schemas.openxmlformats.org/drawingml/2006/main">
              <a:ext uri="{FF2B5EF4-FFF2-40B4-BE49-F238E27FC236}">
                <a16:creationId xmlns:a16="http://schemas.microsoft.com/office/drawing/2014/main" id="{06B94662-6FE6-4CF5-B934-EE5CBA83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7750" y="1881793"/>
            <a:ext cx="370213" cy="348361"/>
          </a:xfrm>
          <a:custGeom xmlns:a="http://schemas.openxmlformats.org/drawingml/2006/main"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2824;p94">
            <a:extLst xmlns:a="http://schemas.openxmlformats.org/drawingml/2006/main">
              <a:ext uri="{FF2B5EF4-FFF2-40B4-BE49-F238E27FC236}">
                <a16:creationId xmlns:a16="http://schemas.microsoft.com/office/drawing/2014/main" id="{02B037F2-DC45-4341-8A79-CB3209A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3435" y="1838099"/>
            <a:ext cx="102586" cy="55245"/>
          </a:xfrm>
          <a:custGeom xmlns:a="http://schemas.openxmlformats.org/drawingml/2006/main"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2825;p94">
            <a:extLst xmlns:a="http://schemas.openxmlformats.org/drawingml/2006/main">
              <a:ext uri="{FF2B5EF4-FFF2-40B4-BE49-F238E27FC236}">
                <a16:creationId xmlns:a16="http://schemas.microsoft.com/office/drawing/2014/main" id="{C50B4741-907E-42DE-BA0B-3176B42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9050" y="1891866"/>
            <a:ext cx="55670" cy="34955"/>
          </a:xfrm>
          <a:custGeom xmlns:a="http://schemas.openxmlformats.org/drawingml/2006/main"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2826;p94">
            <a:extLst xmlns:a="http://schemas.openxmlformats.org/drawingml/2006/main">
              <a:ext uri="{FF2B5EF4-FFF2-40B4-BE49-F238E27FC236}">
                <a16:creationId xmlns:a16="http://schemas.microsoft.com/office/drawing/2014/main" id="{36AB534A-DCD7-4445-B575-A5862273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35907"/>
            <a:ext cx="76537" cy="21254"/>
          </a:xfrm>
          <a:custGeom xmlns:a="http://schemas.openxmlformats.org/drawingml/2006/main"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2827;p94">
            <a:extLst xmlns:a="http://schemas.openxmlformats.org/drawingml/2006/main">
              <a:ext uri="{FF2B5EF4-FFF2-40B4-BE49-F238E27FC236}">
                <a16:creationId xmlns:a16="http://schemas.microsoft.com/office/drawing/2014/main" id="{B5DD2815-B50D-4491-A04C-6F99AB0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74713"/>
            <a:ext cx="177299" cy="23030"/>
          </a:xfrm>
          <a:custGeom xmlns:a="http://schemas.openxmlformats.org/drawingml/2006/main"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2806;p94">
            <a:extLst xmlns:a="http://schemas.openxmlformats.org/drawingml/2006/main">
              <a:ext uri="{FF2B5EF4-FFF2-40B4-BE49-F238E27FC236}">
                <a16:creationId xmlns:a16="http://schemas.microsoft.com/office/drawing/2014/main" id="{DF5EB72A-9714-47B1-AA38-FD4B1CF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7324" y="1749715"/>
            <a:ext cx="738604" cy="694944"/>
          </a:xfrm>
          <a:custGeom xmlns:a="http://schemas.openxmlformats.org/drawingml/2006/main"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2807;p94">
            <a:extLst xmlns:a="http://schemas.openxmlformats.org/drawingml/2006/main">
              <a:ext uri="{FF2B5EF4-FFF2-40B4-BE49-F238E27FC236}">
                <a16:creationId xmlns:a16="http://schemas.microsoft.com/office/drawing/2014/main" id="{03D26D72-6983-4EF2-8819-908F4C3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15126" y="2192350"/>
            <a:ext cx="99083" cy="21254"/>
          </a:xfrm>
          <a:custGeom xmlns:a="http://schemas.openxmlformats.org/drawingml/2006/main"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2808;p94">
            <a:extLst xmlns:a="http://schemas.openxmlformats.org/drawingml/2006/main">
              <a:ext uri="{FF2B5EF4-FFF2-40B4-BE49-F238E27FC236}">
                <a16:creationId xmlns:a16="http://schemas.microsoft.com/office/drawing/2014/main" id="{F73A84BD-EA2A-4D95-A6B3-BA2F7CC3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231154"/>
            <a:ext cx="173796" cy="23030"/>
          </a:xfrm>
          <a:custGeom xmlns:a="http://schemas.openxmlformats.org/drawingml/2006/main"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2809;p94">
            <a:extLst xmlns:a="http://schemas.openxmlformats.org/drawingml/2006/main">
              <a:ext uri="{FF2B5EF4-FFF2-40B4-BE49-F238E27FC236}">
                <a16:creationId xmlns:a16="http://schemas.microsoft.com/office/drawing/2014/main" id="{790C7646-D6B3-419D-BDF3-09F1AA2B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03160"/>
            <a:ext cx="36555" cy="22957"/>
          </a:xfrm>
          <a:custGeom xmlns:a="http://schemas.openxmlformats.org/drawingml/2006/main"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2810;p94">
            <a:extLst xmlns:a="http://schemas.openxmlformats.org/drawingml/2006/main">
              <a:ext uri="{FF2B5EF4-FFF2-40B4-BE49-F238E27FC236}">
                <a16:creationId xmlns:a16="http://schemas.microsoft.com/office/drawing/2014/main" id="{8FB3E07A-5D5E-4301-807A-B5A2E277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94259" y="1903160"/>
            <a:ext cx="119950" cy="22957"/>
          </a:xfrm>
          <a:custGeom xmlns:a="http://schemas.openxmlformats.org/drawingml/2006/main"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2811;p94">
            <a:extLst xmlns:a="http://schemas.openxmlformats.org/drawingml/2006/main">
              <a:ext uri="{FF2B5EF4-FFF2-40B4-BE49-F238E27FC236}">
                <a16:creationId xmlns:a16="http://schemas.microsoft.com/office/drawing/2014/main" id="{EC9E0779-D157-4AE3-A4AE-1572197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43669"/>
            <a:ext cx="173796" cy="21254"/>
          </a:xfrm>
          <a:custGeom xmlns:a="http://schemas.openxmlformats.org/drawingml/2006/main"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2812;p94">
            <a:extLst xmlns:a="http://schemas.openxmlformats.org/drawingml/2006/main">
              <a:ext uri="{FF2B5EF4-FFF2-40B4-BE49-F238E27FC236}">
                <a16:creationId xmlns:a16="http://schemas.microsoft.com/office/drawing/2014/main" id="{BCFE82E2-ACAF-448C-87DF-5498486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008912"/>
            <a:ext cx="173796" cy="141225"/>
          </a:xfrm>
          <a:custGeom xmlns:a="http://schemas.openxmlformats.org/drawingml/2006/main"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2813;p94">
            <a:extLst xmlns:a="http://schemas.openxmlformats.org/drawingml/2006/main">
              <a:ext uri="{FF2B5EF4-FFF2-40B4-BE49-F238E27FC236}">
                <a16:creationId xmlns:a16="http://schemas.microsoft.com/office/drawing/2014/main" id="{FC69A224-7204-4F13-827A-8F6CFF13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3790" y="1885460"/>
            <a:ext cx="364959" cy="370429"/>
          </a:xfrm>
          <a:custGeom xmlns:a="http://schemas.openxmlformats.org/drawingml/2006/main"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2814;p94">
            <a:extLst xmlns:a="http://schemas.openxmlformats.org/drawingml/2006/main">
              <a:ext uri="{FF2B5EF4-FFF2-40B4-BE49-F238E27FC236}">
                <a16:creationId xmlns:a16="http://schemas.microsoft.com/office/drawing/2014/main" id="{CC942708-1EED-4719-A7AB-15E25B61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4225" y="2227156"/>
            <a:ext cx="52240" cy="37620"/>
          </a:xfrm>
          <a:custGeom xmlns:a="http://schemas.openxmlformats.org/drawingml/2006/main"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2815;p94">
            <a:extLst xmlns:a="http://schemas.openxmlformats.org/drawingml/2006/main">
              <a:ext uri="{FF2B5EF4-FFF2-40B4-BE49-F238E27FC236}">
                <a16:creationId xmlns:a16="http://schemas.microsoft.com/office/drawing/2014/main" id="{75757593-004B-4B1D-8138-0CAB416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7138" y="2075044"/>
            <a:ext cx="52169" cy="36287"/>
          </a:xfrm>
          <a:custGeom xmlns:a="http://schemas.openxmlformats.org/drawingml/2006/main"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2816;p94">
            <a:extLst xmlns:a="http://schemas.openxmlformats.org/drawingml/2006/main">
              <a:ext uri="{FF2B5EF4-FFF2-40B4-BE49-F238E27FC236}">
                <a16:creationId xmlns:a16="http://schemas.microsoft.com/office/drawing/2014/main" id="{E064EA9E-2DFD-4EA3-B711-1609C3E4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1762" y="1905752"/>
            <a:ext cx="52240" cy="36287"/>
          </a:xfrm>
          <a:custGeom xmlns:a="http://schemas.openxmlformats.org/drawingml/2006/main"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10" y="1396603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ТРИ СЛОЯ ДОКАЗАТЕЛЬСТВА</a:t>
            </a:r>
            <a:endParaRPr/>
          </a:p>
        </p:txBody>
      </p:sp>
      <p:cxnSp>
        <p:nvCxnSpPr>
          <p:cNvPr id="204" name="Google Shape;2799;p94"/>
          <p:cNvCxnSpPr/>
          <p:nvPr/>
        </p:nvCxnSpPr>
        <p:spPr>
          <a:xfrm xmlns:a="http://schemas.openxmlformats.org/drawingml/2006/main" flipV="1">
            <a:off x="6843165" y="2119165"/>
            <a:ext cx="2489934" cy="1248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f258969123143a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Рисунок 1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c5075541a1264ed2"/>
          <a:stretch xmlns:a="http://schemas.openxmlformats.org/drawingml/2006/main"/>
        </p:blipFill>
        <p:spPr>
          <a:xfrm xmlns:a="http://schemas.openxmlformats.org/drawingml/2006/main" flipH="0" flipV="0">
            <a:off x="0" y="335267"/>
            <a:ext cx="6456363" cy="2971784"/>
          </a:xfrm>
          <a:prstGeom xmlns:a="http://schemas.openxmlformats.org/drawingml/2006/main" prst="rect">
            <a:avLst/>
          </a:prstGeom>
        </p:spPr>
      </p:pic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Что видно кандидату: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Тест создаёт доказательный профиль; отсутствие FSP ID не блокирует поиск и не маскируется фиктивными данными.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Профиль публикуется только с согласием. Контакт скрыт до принятия приглашения или собственного отклика. PDF скачивает только владелец.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Данные под контролем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КАБИНЕТ КАНДИДАТА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2B26F77A-6394-4540-ACF8-376F4FA7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E68476D5-8507-4816-A819-9ECA2395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CD38D2EB-43EA-4D27-BA7B-0F4E28F3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Без истории ФСП — штатно: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Грейд и история тестов, приглашения и статусы, вакансии и собственные отклики.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D3D7D1C8-AE23-AA48-DF65-C742588DBE47}" type="slidenum">
              <a:rPr sz="1200">
                <a:solidFill>
                  <a:schemeClr val="accent5"/>
                </a:solidFill>
              </a:rPr>
              <a:t>7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4aaf5b8797f47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Рисунок 1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ec905965f5e142c5"/>
          <a:stretch xmlns:a="http://schemas.openxmlformats.org/drawingml/2006/main"/>
        </p:blipFill>
        <p:spPr>
          <a:xfrm xmlns:a="http://schemas.openxmlformats.org/drawingml/2006/main" flipH="0" flipV="0">
            <a:off x="0" y="335267"/>
            <a:ext cx="6456363" cy="2971784"/>
          </a:xfrm>
          <a:prstGeom xmlns:a="http://schemas.openxmlformats.org/drawingml/2006/main" prst="rect">
            <a:avLst/>
          </a:prstGeom>
        </p:spPr>
      </p:pic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Что получает работодатель: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Приглашение можно отправить без вакансии; контакт откроется после принятия. Отклик кандидата открывает контакт сразу.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Компания, команда, специализация, грейд, стек, формат, зарплата и критичность навыков. Вакансией владеет только создавший её аккаунт.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83365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Потребность описана полностью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КАБИНЕТ РАБОТОДАТЕЛЯ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2B26F77A-6394-4540-ACF8-376F4FA7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E68476D5-8507-4816-A819-9ECA2395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CD38D2EB-43EA-4D27-BA7B-0F4E28F3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Контакт — по согласию: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Фильтруемый банк кандидатов и причины ранга: покрытие, подтверждённая сила и критичные пробелы.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BA58DA2A-B818-18A9-29C1-B697728D5BCE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eeba739ee75438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1366423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2377094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3387765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4398436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5409107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366423"/>
            <a:ext cx="5389562" cy="4834352"/>
          </a:xfrm>
          <a:prstGeom xmlns:a="http://schemas.openxmlformats.org/drawingml/2006/main" prst="roundRect">
            <a:avLst>
              <a:gd name="adj" fmla="val 291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23887" y="1732103"/>
            <a:ext cx="4734175" cy="4139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24172E"/>
                </a:solidFill>
              </a:rPr>
              <a:t>FastAPI + статический UI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</a:pPr>
            <a:r>
              <a:t/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24172E"/>
                </a:solidFill>
              </a:rPr>
              <a:t>SQLite / транзакции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</a:pPr>
            <a:r>
              <a:t/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24172E"/>
                </a:solidFill>
              </a:rPr>
              <a:t>CPU-only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</a:pPr>
            <a:r>
              <a:t/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24172E"/>
                </a:solidFill>
              </a:rPr>
              <a:t>Один процесс на VM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</a:pPr>
            <a:r>
              <a:t/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24172E"/>
                </a:solidFill>
              </a:rPr>
              <a:t>OpenAPI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</a:pPr>
            <a:r>
              <a:t/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24172E"/>
                </a:solidFill>
              </a:rPr>
              <a:t>Отдельные доменные границы</a:t>
            </a:r>
            <a:endParaRPr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172730" y="1445505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WEB — маршруты, роли, сессии, проекции приватных данных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172730" y="247287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APPLICATION — сценарии профиля, подбора, теста и коммуникации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172730" y="348592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DOMAIN — граф навыков, evidence policy, gap и score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172730" y="4496593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INFRASTRUCTURE — SQLite, SMTP, PDF, адаптер FSP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172730" y="5516924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BOUNDARIES — OIDC/Keycloak и ATS webhooks без смены доменной модели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 xmlns:a="http://schemas.openxmlformats.org/drawingml/2006/main"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3200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rPr>
                <a:solidFill>
                  <a:schemeClr val="accent5"/>
                </a:solidFill>
              </a:rPr>
              <a:t>9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MVP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d49e1ba435549d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77" y="1522006"/>
            <a:ext cx="3399397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80565" y="2493074"/>
            <a:ext cx="2965634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Учётная запись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780565" y="3128740"/>
            <a:ext cx="2965633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scrypt для паролей и кодов; session token хранится только как digest. SMTP и честный demo-outbox.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4623178" y="2493074"/>
            <a:ext cx="303489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Роль и владение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4623178" y="3128740"/>
            <a:ext cx="3034896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Кандидат и работодатель не читают чужие кабинеты. Вакансии и статусы меняет только владелец.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547959" y="2493074"/>
            <a:ext cx="2945464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Согласие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8547959" y="3128740"/>
            <a:ext cx="2945464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Публикация требует согласия. Контакт не входит в публичную карточку. FSP-sync закрыт интеграционным ключом.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6" y="335426"/>
            <a:ext cx="11331221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54107A"/>
                </a:solidFill>
              </a:rPr>
              <a:t>ПРИВАТНОСТЬ ЗАЛОЖЕНА В СЦЕНАРИЙ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780565" y="1772415"/>
            <a:ext cx="1311031" cy="6011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4615219" y="1766200"/>
            <a:ext cx="1311031" cy="5729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8547959" y="1766043"/>
            <a:ext cx="1311031" cy="5731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  <a:endParaRPr sz="4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083f4c09864418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rPr>
                <a:solidFill>
                  <a:schemeClr val="accent5"/>
                </a:solidFill>
              </a:rPr>
              <a:t>11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755267" y="1343263"/>
            <a:ext cx="4790314" cy="1021701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37 автоматических тестов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755267" y="1722800"/>
            <a:ext cx="4790314" cy="6421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auth, роли, тест, приватность, PDF, API, атомарность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755267" y="2611824"/>
            <a:ext cx="4790314" cy="1021701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фальсифицируемых эксперимента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755267" y="2991361"/>
            <a:ext cx="4790314" cy="6421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каждый имеет expected effect, failure condition и JUnit artifact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755267" y="3880385"/>
            <a:ext cx="4790314" cy="1021701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Границы проверяются явно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755267" y="4259922"/>
            <a:ext cx="4790314" cy="6421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пустые/битые данные, salary range, cooldown, отсутствие ФСП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755267" y="5148947"/>
            <a:ext cx="4790314" cy="1021701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Без выдуманных бизнес-метрик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755267" y="5528484"/>
            <a:ext cx="4790314" cy="6421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эффект на найм измеряется только на будущем пилоте</a:t>
            </a:r>
            <a:endParaRPr>
              <a:solidFill>
                <a:schemeClr val="accent5"/>
              </a:solidFill>
            </a:endParaRPr>
          </a:p>
        </p:txBody>
      </p:sp>
      <p:graphicFrame>
        <p:nvGraphicFramePr>
          <p:cNvPr id="27" name="Диаграмма 11"/>
          <p:cNvGraphicFramePr/>
          <p:nvPr/>
        </p:nvGraphicFramePr>
        <p:xfrm>
          <a:off xmlns:a="http://schemas.openxmlformats.org/drawingml/2006/main" x="346075" y="1424510"/>
          <a:ext xmlns:a="http://schemas.openxmlformats.org/drawingml/2006/main" cx="5749925" cy="440174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d84fb6deda44dc"/>
          </a:graphicData>
        </a:graphic>
      </p:graphicFrame>
      <p:sp>
        <p:nvSpPr>
          <p:cNvPr id="1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ВАЛИДАЦИЯ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6dfbfa3a5314a1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425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3123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rPr>
                <a:solidFill>
                  <a:schemeClr val="bg1"/>
                </a:solidFill>
              </a:rPr>
              <a:t>12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520913" y="2339783"/>
            <a:ext cx="2284071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Пилот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20913" y="3128740"/>
            <a:ext cx="2284071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Калибровка тестов на реальных вакансиях и кандидатах с добровольным согласием.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3457903" y="2373557"/>
            <a:ext cx="233741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Keycloak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3457903" y="3134070"/>
            <a:ext cx="2337416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OIDC и FSP subject → внутренний user без смены доменных ID.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6456363" y="2379657"/>
            <a:ext cx="2268537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ATS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456363" y="3136604"/>
            <a:ext cx="2268537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Подписанные idempotent webhooks для invitation.accepted и application.*.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9407534" y="2339783"/>
            <a:ext cx="226355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Anti-fraud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9407534" y="3128739"/>
            <a:ext cx="2263553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4172E"/>
                </a:solidFill>
              </a:rPr>
              <a:t>Проверка работодателя, risk flags вакансий и ручная модерация спорных случаев.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РАЗВИТИЯ ПОСЛЕ MVP</a:t>
            </a:r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772416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3449944" y="1766200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456363" y="1766043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9407534" y="1772416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</a:t>
            </a: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t>ВЫГОТСКИЙ</a:t>
            </a:r>
            <a:endParaRPr sz="4800"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>
            <a:normAutofit fontScale="68244" lnSpcReduction="10000"/>
          </a:bodyPr>
          <a:lstStyle xmlns:a="http://schemas.openxmlformats.org/drawingml/2006/main"/>
          <a:p xmlns:a="http://schemas.openxmlformats.org/drawingml/2006/main">
            <a:pPr marL="271463" indent="-3175">
              <a:buNone/>
            </a:pPr>
            <a:r>
              <a:t>Не ищет совпадение слов.</a:t>
            </a:r>
          </a:p>
          <a:p xmlns:a="http://schemas.openxmlformats.org/drawingml/2006/main">
            <a:pPr marL="271463" indent="-3175">
              <a:buNone/>
            </a:pPr>
            <a:r>
              <a:t>Показывает, чем кандидат доказал готовность к задаче —</a:t>
            </a:r>
          </a:p>
          <a:p xmlns:a="http://schemas.openxmlformats.org/drawingml/2006/main">
            <a:pPr marL="271463" indent="-3175">
              <a:buNone/>
            </a:pPr>
            <a:r>
              <a:t>и даёт работодателю сделать первый шаг.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04ccf4acb4c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075" y="631174"/>
            <a:ext cx="4905194" cy="6200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2026-10-05T10:43:42.6440000Z</dcterms:created>
  <dcterms:modified xsi:type="dcterms:W3CDTF">2026-10-05T10:43:42.6440000Z</dcterms:modified>
</coreProperties>
</file>